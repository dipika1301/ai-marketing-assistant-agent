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1" roundtripDataSignature="AMtx7mghOvm2EZ50R9dUsIjQzxxGQymfN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2DA409A-753F-43E9-88D9-1875949E996A}">
  <a:tblStyle styleId="{72DA409A-753F-43E9-88D9-1875949E996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78" y="11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21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79743425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990161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104723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2" name="Google Shape;92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341275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8" name="Google Shape;98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93061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4" name="Google Shape;104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252308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0" name="Google Shape;110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783380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2" name="Google Shape;122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987344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8" name="Google Shape;12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218520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4" name="Google Shape;13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781373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1" name="Google Shape;141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229519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7" name="Google Shape;147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283373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8" name="Google Shape;158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766487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4" name="Google Shape;164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561773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3" name="Google Shape;173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7364724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2" name="Google Shape;182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592865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" name="Google Shape;27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3" name="Google Shape;33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5" name="Google Shape;35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1" name="Google Shape;51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2" name="Google Shape;52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9" name="Google Shape;59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IPIKA1301/AI-Marketing-Assistant-Agent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3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US" sz="6600" b="1" dirty="0"/>
              <a:t>IBM University Engagement Project Submission</a:t>
            </a:r>
            <a:r>
              <a:rPr lang="en-US" b="1" dirty="0"/>
              <a:t/>
            </a:r>
            <a:br>
              <a:rPr lang="en-US" b="1" dirty="0"/>
            </a:br>
            <a:endParaRPr dirty="0"/>
          </a:p>
        </p:txBody>
      </p:sp>
      <p:sp>
        <p:nvSpPr>
          <p:cNvPr id="79" name="Google Shape;79;p33"/>
          <p:cNvSpPr txBox="1"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lang="en-US" b="1" i="1"/>
              <a:t>“Exploring the Power of Agentic AI with IBM Granite and LangFlow”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" name="Google Shape;8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86" name="Google Shape;86;p2"/>
          <p:cNvGraphicFramePr/>
          <p:nvPr>
            <p:extLst>
              <p:ext uri="{D42A27DB-BD31-4B8C-83A1-F6EECF244321}">
                <p14:modId xmlns:p14="http://schemas.microsoft.com/office/powerpoint/2010/main" val="826158540"/>
              </p:ext>
            </p:extLst>
          </p:nvPr>
        </p:nvGraphicFramePr>
        <p:xfrm>
          <a:off x="1299257" y="2600315"/>
          <a:ext cx="9395000" cy="2982338"/>
        </p:xfrm>
        <a:graphic>
          <a:graphicData uri="http://schemas.openxmlformats.org/drawingml/2006/table">
            <a:tbl>
              <a:tblPr>
                <a:noFill/>
                <a:tableStyleId>{72DA409A-753F-43E9-88D9-1875949E996A}</a:tableStyleId>
              </a:tblPr>
              <a:tblGrid>
                <a:gridCol w="2064875"/>
                <a:gridCol w="2443375"/>
                <a:gridCol w="2443375"/>
                <a:gridCol w="2443375"/>
              </a:tblGrid>
              <a:tr h="973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 dirty="0"/>
                        <a:t>Student Name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Recent Passport Photo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Email ID 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Mobile number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[WhatsApp]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</a:tr>
              <a:tr h="200911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strike="noStrike" cap="none" dirty="0" smtClean="0"/>
                        <a:t>Dipika  Dahyabhai  Prajapati</a:t>
                      </a:r>
                      <a:endParaRPr sz="1400" u="none" strike="noStrike" cap="none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strike="noStrike" cap="none" dirty="0" smtClean="0"/>
                        <a:t>dipika.kothariya@bvmengineering.ac.in</a:t>
                      </a:r>
                      <a:endParaRPr sz="1400" u="none" strike="noStrike" cap="none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strike="noStrike" cap="none" dirty="0" smtClean="0"/>
                        <a:t>8866337810</a:t>
                      </a:r>
                      <a:endParaRPr sz="1400" u="none" strike="noStrike" cap="none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</a:tr>
            </a:tbl>
          </a:graphicData>
        </a:graphic>
      </p:graphicFrame>
      <p:sp>
        <p:nvSpPr>
          <p:cNvPr id="88" name="Google Shape;88;p2"/>
          <p:cNvSpPr txBox="1"/>
          <p:nvPr/>
        </p:nvSpPr>
        <p:spPr>
          <a:xfrm>
            <a:off x="1206164" y="1460724"/>
            <a:ext cx="1028025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2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Domain of  Project – </a:t>
            </a:r>
            <a:r>
              <a:rPr lang="en-US" sz="2400" b="1" dirty="0">
                <a:highlight>
                  <a:srgbClr val="FFFF00"/>
                </a:highlight>
              </a:rPr>
              <a:t>[Social Media Analytics / Digital Marketing / AI]</a:t>
            </a:r>
            <a:endParaRPr sz="2400" b="1" i="0" u="none" strike="noStrike" cap="none" dirty="0">
              <a:solidFill>
                <a:srgbClr val="000000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2"/>
          <p:cNvSpPr txBox="1"/>
          <p:nvPr/>
        </p:nvSpPr>
        <p:spPr>
          <a:xfrm>
            <a:off x="1206162" y="551965"/>
            <a:ext cx="10520617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2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Tile – </a:t>
            </a:r>
            <a:r>
              <a:rPr lang="en-US" sz="2400" b="1" i="0" u="none" strike="noStrike" cap="none" dirty="0" smtClean="0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[</a:t>
            </a:r>
            <a:r>
              <a:rPr lang="en-US" sz="2400" b="1" dirty="0">
                <a:solidFill>
                  <a:srgbClr val="002060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AI-Powered Social Media Agent for Intelligent Content Strategy and Analytics</a:t>
            </a:r>
            <a:r>
              <a:rPr lang="en-US" sz="2400" b="1" i="0" u="none" strike="noStrike" cap="none" dirty="0" smtClean="0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]</a:t>
            </a:r>
            <a:endParaRPr sz="2400" b="1" i="0" u="none" strike="noStrike" cap="none" dirty="0">
              <a:solidFill>
                <a:srgbClr val="000000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8232" y="3817756"/>
            <a:ext cx="1185405" cy="14995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4"/>
          <p:cNvSpPr txBox="1"/>
          <p:nvPr/>
        </p:nvSpPr>
        <p:spPr>
          <a:xfrm>
            <a:off x="640240" y="1170272"/>
            <a:ext cx="10607040" cy="4401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IN" sz="2000" b="1" dirty="0"/>
              <a:t>Problem Statement: Social Media </a:t>
            </a:r>
            <a:r>
              <a:rPr lang="en-IN" sz="2000" b="1" dirty="0" smtClean="0"/>
              <a:t>Agent</a:t>
            </a:r>
          </a:p>
          <a:p>
            <a:endParaRPr lang="en-IN" sz="2000" b="1" dirty="0"/>
          </a:p>
          <a:p>
            <a:r>
              <a:rPr lang="en-IN" sz="2000" b="1" dirty="0"/>
              <a:t>The </a:t>
            </a:r>
            <a:r>
              <a:rPr lang="en-IN" sz="2000" b="1" dirty="0" smtClean="0"/>
              <a:t>Challenge</a:t>
            </a:r>
          </a:p>
          <a:p>
            <a:endParaRPr lang="en-IN" sz="2000" b="1" dirty="0"/>
          </a:p>
          <a:p>
            <a:r>
              <a:rPr lang="en-IN" sz="2000" dirty="0"/>
              <a:t>Brands, influencers, and organizations face difficulties in managing the fast-changing social media environment. Content trends change rapidly, audience sentiment shifts continuously, and competitor strategies are difficult to monitor.</a:t>
            </a:r>
          </a:p>
          <a:p>
            <a:r>
              <a:rPr lang="en-IN" sz="2000" dirty="0"/>
              <a:t>Managing data from multiple platforms results in</a:t>
            </a:r>
            <a:r>
              <a:rPr lang="en-IN" sz="2000" dirty="0" smtClean="0"/>
              <a:t>:</a:t>
            </a:r>
          </a:p>
          <a:p>
            <a:endParaRPr lang="en-IN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Scattered social media insights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Missed engagement opportunities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Difficulty identifying trending topics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Inefficient content planning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Lack of real-time audience understanding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5"/>
          <p:cNvSpPr txBox="1"/>
          <p:nvPr/>
        </p:nvSpPr>
        <p:spPr>
          <a:xfrm>
            <a:off x="667497" y="1165750"/>
            <a:ext cx="12919800" cy="5632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IN" sz="2000" b="1" dirty="0"/>
              <a:t>Technology Approach </a:t>
            </a:r>
            <a:r>
              <a:rPr lang="en-IN" sz="2000" b="1" dirty="0" smtClean="0"/>
              <a:t>Used: LangFlow </a:t>
            </a:r>
            <a:r>
              <a:rPr lang="en-IN" sz="2000" b="1" dirty="0"/>
              <a:t>+ IBM watsonx.ai + Granite </a:t>
            </a:r>
            <a:r>
              <a:rPr lang="en-IN" sz="2000" b="1" dirty="0" smtClean="0"/>
              <a:t>Models</a:t>
            </a:r>
          </a:p>
          <a:p>
            <a:endParaRPr lang="en-IN" sz="2000" dirty="0"/>
          </a:p>
          <a:p>
            <a:r>
              <a:rPr lang="en-IN" sz="2000" b="1" dirty="0"/>
              <a:t>Technologies Used</a:t>
            </a:r>
            <a:r>
              <a:rPr lang="en-IN" sz="2000" b="1" dirty="0" smtClean="0"/>
              <a:t>:</a:t>
            </a:r>
          </a:p>
          <a:p>
            <a:endParaRPr lang="en-IN" sz="20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LangFlow</a:t>
            </a:r>
            <a:br>
              <a:rPr lang="en-IN" sz="2000" dirty="0"/>
            </a:br>
            <a:r>
              <a:rPr lang="en-IN" sz="2000" dirty="0"/>
              <a:t>→ Visual workflow creation and multi-agent orchestration </a:t>
            </a:r>
            <a:endParaRPr lang="en-IN" sz="2000" dirty="0" smtClean="0"/>
          </a:p>
          <a:p>
            <a:pPr>
              <a:buFont typeface="Arial" panose="020B0604020202020204" pitchFamily="34" charset="0"/>
              <a:buChar char="•"/>
            </a:pPr>
            <a:endParaRPr lang="en-IN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IBM watsonx.ai</a:t>
            </a:r>
            <a:br>
              <a:rPr lang="en-IN" sz="2000" dirty="0"/>
            </a:br>
            <a:r>
              <a:rPr lang="en-IN" sz="2000" dirty="0"/>
              <a:t>→ AI model deployment, governance, and enterprise AI capabilities </a:t>
            </a:r>
            <a:endParaRPr lang="en-IN" sz="2000" dirty="0" smtClean="0"/>
          </a:p>
          <a:p>
            <a:pPr>
              <a:buFont typeface="Arial" panose="020B0604020202020204" pitchFamily="34" charset="0"/>
              <a:buChar char="•"/>
            </a:pPr>
            <a:endParaRPr lang="en-IN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IBM Granite Models</a:t>
            </a:r>
            <a:br>
              <a:rPr lang="en-IN" sz="2000" dirty="0"/>
            </a:br>
            <a:r>
              <a:rPr lang="en-IN" sz="2000" dirty="0"/>
              <a:t>→ Natural language understanding, reasoning, and content </a:t>
            </a:r>
            <a:r>
              <a:rPr lang="en-IN" sz="2000" dirty="0" smtClean="0"/>
              <a:t>generation</a:t>
            </a:r>
          </a:p>
          <a:p>
            <a:r>
              <a:rPr lang="en-IN" sz="2000" dirty="0" smtClean="0"/>
              <a:t> </a:t>
            </a:r>
            <a:endParaRPr lang="en-IN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RAG (Retrieval Augmented Generation)</a:t>
            </a:r>
            <a:br>
              <a:rPr lang="en-IN" sz="2000" dirty="0"/>
            </a:br>
            <a:r>
              <a:rPr lang="en-IN" sz="2000" dirty="0"/>
              <a:t>→ Retrieve social media trends and external knowledge before generating </a:t>
            </a:r>
            <a:r>
              <a:rPr lang="en-IN" sz="2000" dirty="0" smtClean="0"/>
              <a:t>responses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 smtClean="0"/>
              <a:t> </a:t>
            </a:r>
            <a:endParaRPr lang="en-IN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Vector Database (FAISS / Chroma)</a:t>
            </a:r>
            <a:br>
              <a:rPr lang="en-IN" sz="2000" dirty="0"/>
            </a:br>
            <a:r>
              <a:rPr lang="en-IN" sz="2000" dirty="0"/>
              <a:t>→ Store and retrieve social media knowledge efficiently</a:t>
            </a:r>
          </a:p>
        </p:txBody>
      </p:sp>
      <p:sp>
        <p:nvSpPr>
          <p:cNvPr id="101" name="Google Shape;101;p35"/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Technology Used </a:t>
            </a:r>
            <a:endParaRPr sz="2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6"/>
          <p:cNvSpPr txBox="1"/>
          <p:nvPr/>
        </p:nvSpPr>
        <p:spPr>
          <a:xfrm>
            <a:off x="576072" y="887175"/>
            <a:ext cx="10607040" cy="5970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IN" sz="1600" b="1" dirty="0"/>
              <a:t>AI-Powered Social Media Agent</a:t>
            </a:r>
          </a:p>
          <a:p>
            <a:r>
              <a:rPr lang="en-IN" sz="1600" dirty="0"/>
              <a:t>The proposed solution is a multi-agent AI system that helps brands and creators monitor, analyze, and improve their social media presence.</a:t>
            </a:r>
          </a:p>
          <a:p>
            <a:r>
              <a:rPr lang="en-IN" sz="1600" dirty="0"/>
              <a:t>The system uses IBM Granite models with LangFlow orchestration to provide intelligent content recommendations and real-time insights</a:t>
            </a:r>
            <a:r>
              <a:rPr lang="en-IN" sz="1600" dirty="0" smtClean="0"/>
              <a:t>.</a:t>
            </a:r>
          </a:p>
          <a:p>
            <a:endParaRPr lang="en-IN" sz="1600" dirty="0"/>
          </a:p>
          <a:p>
            <a:r>
              <a:rPr lang="en-IN" sz="1600" b="1" dirty="0"/>
              <a:t>Key Agents</a:t>
            </a:r>
            <a:r>
              <a:rPr lang="en-IN" sz="1600" b="1" dirty="0" smtClean="0"/>
              <a:t>:</a:t>
            </a:r>
          </a:p>
          <a:p>
            <a:endParaRPr lang="en-IN" sz="1600" b="1" dirty="0"/>
          </a:p>
          <a:p>
            <a:r>
              <a:rPr lang="en-IN" sz="1600" b="1" dirty="0"/>
              <a:t>1. Social Data Collection Agent</a:t>
            </a:r>
            <a:endParaRPr lang="en-IN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/>
              <a:t>Collects posts, comments, hashtags, competitor data </a:t>
            </a:r>
            <a:endParaRPr lang="en-IN" sz="1600" dirty="0" smtClean="0"/>
          </a:p>
          <a:p>
            <a:pPr>
              <a:buFont typeface="Arial" panose="020B0604020202020204" pitchFamily="34" charset="0"/>
              <a:buChar char="•"/>
            </a:pPr>
            <a:endParaRPr lang="en-IN" sz="1600" dirty="0"/>
          </a:p>
          <a:p>
            <a:r>
              <a:rPr lang="en-IN" sz="1600" b="1" dirty="0"/>
              <a:t>2. Sentiment Analysis Agent</a:t>
            </a:r>
            <a:endParaRPr lang="en-IN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/>
              <a:t>Understands audience reactions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/>
              <a:t>Classifies positive, negative, and neutral sentiment </a:t>
            </a:r>
            <a:endParaRPr lang="en-IN" sz="1600" dirty="0" smtClean="0"/>
          </a:p>
          <a:p>
            <a:pPr>
              <a:buFont typeface="Arial" panose="020B0604020202020204" pitchFamily="34" charset="0"/>
              <a:buChar char="•"/>
            </a:pPr>
            <a:endParaRPr lang="en-IN" sz="1600" dirty="0"/>
          </a:p>
          <a:p>
            <a:r>
              <a:rPr lang="en-IN" sz="1600" b="1" dirty="0"/>
              <a:t>3. Content Generation Agent</a:t>
            </a:r>
            <a:endParaRPr lang="en-IN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/>
              <a:t>Creates captions, posts, campaign ideas </a:t>
            </a:r>
            <a:endParaRPr lang="en-IN" sz="1600" dirty="0" smtClean="0"/>
          </a:p>
          <a:p>
            <a:pPr>
              <a:buFont typeface="Arial" panose="020B0604020202020204" pitchFamily="34" charset="0"/>
              <a:buChar char="•"/>
            </a:pPr>
            <a:endParaRPr lang="en-IN" sz="1600" dirty="0"/>
          </a:p>
          <a:p>
            <a:r>
              <a:rPr lang="en-IN" sz="1600" b="1" dirty="0"/>
              <a:t>4. Trend Prediction Agent</a:t>
            </a:r>
            <a:endParaRPr lang="en-IN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/>
              <a:t>Identifies upcoming trends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/>
              <a:t>Suggests hashtags and posting time </a:t>
            </a:r>
            <a:endParaRPr lang="en-IN" sz="1600" dirty="0" smtClean="0"/>
          </a:p>
          <a:p>
            <a:pPr>
              <a:buFont typeface="Arial" panose="020B0604020202020204" pitchFamily="34" charset="0"/>
              <a:buChar char="•"/>
            </a:pPr>
            <a:endParaRPr lang="en-IN" sz="1600" dirty="0"/>
          </a:p>
          <a:p>
            <a:r>
              <a:rPr lang="en-IN" sz="1600" b="1" dirty="0"/>
              <a:t>5. Analytics Agent</a:t>
            </a:r>
            <a:endParaRPr lang="en-IN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/>
              <a:t>Generates reports and performance insights</a:t>
            </a:r>
          </a:p>
        </p:txBody>
      </p:sp>
      <p:sp>
        <p:nvSpPr>
          <p:cNvPr id="107" name="Google Shape;107;p36"/>
          <p:cNvSpPr txBox="1"/>
          <p:nvPr/>
        </p:nvSpPr>
        <p:spPr>
          <a:xfrm>
            <a:off x="576072" y="238866"/>
            <a:ext cx="721461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Proposed Solution -</a:t>
            </a:r>
            <a:endParaRPr sz="24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7"/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Langflow</a:t>
            </a:r>
            <a:r>
              <a:rPr lang="en-US" sz="3500" b="1" i="0" u="none" strike="noStrike" cap="non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component Used -</a:t>
            </a:r>
            <a:endParaRPr sz="2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37"/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" name="Google Shape;114;p37"/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" name="Google Shape;115;p37"/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" name="Google Shape;116;p37"/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" name="Google Shape;117;p37"/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" name="Google Shape;118;p37"/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" name="Google Shape;119;p37"/>
          <p:cNvSpPr txBox="1"/>
          <p:nvPr/>
        </p:nvSpPr>
        <p:spPr>
          <a:xfrm>
            <a:off x="474822" y="1419822"/>
            <a:ext cx="5139915" cy="5478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>
              <a:buAutoNum type="arabicPeriod"/>
            </a:pPr>
            <a:r>
              <a:rPr lang="en-IN" sz="1600" b="1" dirty="0" smtClean="0"/>
              <a:t>Chat Input</a:t>
            </a:r>
            <a:endParaRPr lang="en-IN" sz="16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/>
              <a:t>User enters: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/>
              <a:t>Marketing goals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/>
              <a:t>Brand details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/>
              <a:t>Content requirements </a:t>
            </a:r>
          </a:p>
          <a:p>
            <a:r>
              <a:rPr lang="en-IN" sz="1600" b="1" dirty="0"/>
              <a:t>2. IBM watsonx AI </a:t>
            </a:r>
            <a:r>
              <a:rPr lang="en-IN" sz="1600" b="1" dirty="0" smtClean="0"/>
              <a:t>Agent</a:t>
            </a:r>
          </a:p>
          <a:p>
            <a:endParaRPr lang="en-IN" sz="16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/>
              <a:t>Processes user requests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/>
              <a:t>Uses IBM Granite model for reasoning and generation </a:t>
            </a:r>
            <a:endParaRPr lang="en-IN" sz="1600" dirty="0" smtClean="0"/>
          </a:p>
          <a:p>
            <a:r>
              <a:rPr lang="en-IN" sz="1600" b="1" dirty="0" smtClean="0"/>
              <a:t>3</a:t>
            </a:r>
            <a:r>
              <a:rPr lang="en-IN" sz="1600" b="1" dirty="0"/>
              <a:t>. IBM Granite </a:t>
            </a:r>
            <a:r>
              <a:rPr lang="en-IN" sz="1600" b="1" dirty="0" smtClean="0"/>
              <a:t>Model Granite-4.0-8B-Instruct</a:t>
            </a:r>
          </a:p>
          <a:p>
            <a:endParaRPr lang="en-IN" sz="1600" dirty="0"/>
          </a:p>
          <a:p>
            <a:r>
              <a:rPr lang="en-IN" sz="1600" dirty="0"/>
              <a:t>Used for: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/>
              <a:t>Content generation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/>
              <a:t>Sentiment understanding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AI recommendations</a:t>
            </a:r>
          </a:p>
          <a:p>
            <a:pPr marL="342900" marR="0" lvl="0" indent="-254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19;p37"/>
          <p:cNvSpPr txBox="1"/>
          <p:nvPr/>
        </p:nvSpPr>
        <p:spPr>
          <a:xfrm>
            <a:off x="5784460" y="1374489"/>
            <a:ext cx="5139915" cy="3539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IN" sz="1600" b="1" dirty="0"/>
              <a:t>4. File </a:t>
            </a:r>
            <a:r>
              <a:rPr lang="en-IN" sz="1600" b="1" dirty="0" smtClean="0"/>
              <a:t>Component</a:t>
            </a:r>
            <a:endParaRPr lang="en-IN" sz="1600" b="1" dirty="0"/>
          </a:p>
          <a:p>
            <a:r>
              <a:rPr lang="en-IN" sz="1600" dirty="0"/>
              <a:t>Stores: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/>
              <a:t>Brand information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/>
              <a:t>Previous campaigns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/>
              <a:t>Social media datasets 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1600" dirty="0"/>
          </a:p>
          <a:p>
            <a:r>
              <a:rPr lang="en-IN" sz="1600" b="1" dirty="0"/>
              <a:t>5. Retriever / Vector </a:t>
            </a:r>
            <a:r>
              <a:rPr lang="en-IN" sz="1600" b="1" dirty="0" smtClean="0"/>
              <a:t>Store</a:t>
            </a:r>
            <a:endParaRPr lang="en-IN" sz="16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/>
              <a:t>Retrieves trending information and stored </a:t>
            </a:r>
            <a:r>
              <a:rPr lang="en-IN" sz="1600" dirty="0" smtClean="0"/>
              <a:t>knowledge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 smtClean="0"/>
              <a:t> </a:t>
            </a:r>
            <a:endParaRPr lang="en-IN" sz="1600" dirty="0"/>
          </a:p>
          <a:p>
            <a:r>
              <a:rPr lang="en-IN" sz="1600" b="1" dirty="0"/>
              <a:t>6. Chat </a:t>
            </a:r>
            <a:r>
              <a:rPr lang="en-IN" sz="1600" b="1" dirty="0" smtClean="0"/>
              <a:t>Output</a:t>
            </a:r>
            <a:endParaRPr lang="en-IN" sz="1600" b="1" dirty="0"/>
          </a:p>
          <a:p>
            <a:r>
              <a:rPr lang="en-IN" sz="1600" dirty="0"/>
              <a:t>Displays: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/>
              <a:t>Generated posts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/>
              <a:t>Insights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/>
              <a:t>Recommendations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4439" y="1066220"/>
            <a:ext cx="11469656" cy="5544892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38"/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Langflow</a:t>
            </a:r>
            <a:r>
              <a:rPr lang="en-US" sz="3500" b="1" i="0" u="none" strike="noStrike" cap="non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workflow -</a:t>
            </a:r>
            <a:endParaRPr sz="2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152" y="1071448"/>
            <a:ext cx="10429095" cy="5612816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7"/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Architecture blueprint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1985" y="1167493"/>
            <a:ext cx="3015343" cy="4523014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9"/>
          <p:cNvSpPr txBox="1"/>
          <p:nvPr/>
        </p:nvSpPr>
        <p:spPr>
          <a:xfrm>
            <a:off x="475488" y="283464"/>
            <a:ext cx="9317736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Role of Agentic AI in the solution </a:t>
            </a:r>
            <a:endParaRPr sz="32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9"/>
          <p:cNvSpPr txBox="1"/>
          <p:nvPr/>
        </p:nvSpPr>
        <p:spPr>
          <a:xfrm>
            <a:off x="621792" y="1167493"/>
            <a:ext cx="7406640" cy="3970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IN" sz="1800" dirty="0"/>
              <a:t>Agentic AI enables the system to work as an autonomous digital marketing assistant</a:t>
            </a:r>
            <a:r>
              <a:rPr lang="en-IN" sz="1800" dirty="0" smtClean="0"/>
              <a:t>.</a:t>
            </a:r>
          </a:p>
          <a:p>
            <a:endParaRPr lang="en-IN" sz="1800" dirty="0"/>
          </a:p>
          <a:p>
            <a:r>
              <a:rPr lang="en-IN" sz="1800" b="1" dirty="0"/>
              <a:t>Benefits: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b="1" dirty="0"/>
              <a:t>Autonomous Decision Making</a:t>
            </a:r>
            <a:r>
              <a:rPr lang="en-IN" sz="1800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800" dirty="0"/>
              <a:t>Agents analyze data and recommend actions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b="1" dirty="0"/>
              <a:t>Context Awareness</a:t>
            </a:r>
            <a:r>
              <a:rPr lang="en-IN" sz="1800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800" dirty="0"/>
              <a:t>Understands brand identity and audience behavior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b="1" dirty="0"/>
              <a:t>Multi-Agent Collaboration</a:t>
            </a:r>
            <a:r>
              <a:rPr lang="en-IN" sz="1800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800" dirty="0"/>
              <a:t>Different agents perform specialized tasks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b="1" dirty="0"/>
              <a:t>Real-Time Adaptation</a:t>
            </a:r>
            <a:r>
              <a:rPr lang="en-IN" sz="1800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800" dirty="0"/>
              <a:t>Updates recommendations based on changing trends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b="1" dirty="0"/>
              <a:t>Goal-Oriented Actions</a:t>
            </a:r>
            <a:r>
              <a:rPr lang="en-IN" sz="1800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800" dirty="0"/>
              <a:t>Helps improve engagement and campaign performance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9"/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Technology Used</a:t>
            </a:r>
            <a:endParaRPr sz="2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39"/>
          <p:cNvSpPr txBox="1"/>
          <p:nvPr/>
        </p:nvSpPr>
        <p:spPr>
          <a:xfrm>
            <a:off x="777240" y="1207008"/>
            <a:ext cx="10515600" cy="4524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IN" sz="1800" b="1" dirty="0"/>
              <a:t>LangFlow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/>
              <a:t>Builds and manages AI agent workflows </a:t>
            </a:r>
            <a:r>
              <a:rPr lang="en-IN" sz="1800" dirty="0" smtClean="0"/>
              <a:t>visually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 smtClean="0"/>
              <a:t> </a:t>
            </a:r>
            <a:endParaRPr lang="en-IN" sz="1800" dirty="0"/>
          </a:p>
          <a:p>
            <a:r>
              <a:rPr lang="en-IN" sz="1800" b="1" dirty="0"/>
              <a:t>IBM Granite Model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/>
              <a:t>Generates content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/>
              <a:t>Performs reasoning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/>
              <a:t>Provides intelligent recommendations </a:t>
            </a:r>
            <a:endParaRPr lang="en-IN" sz="1800" dirty="0" smtClean="0"/>
          </a:p>
          <a:p>
            <a:pPr>
              <a:buFont typeface="Arial" panose="020B0604020202020204" pitchFamily="34" charset="0"/>
              <a:buChar char="•"/>
            </a:pPr>
            <a:endParaRPr lang="en-IN" sz="1800" dirty="0"/>
          </a:p>
          <a:p>
            <a:r>
              <a:rPr lang="en-IN" sz="1800" b="1" dirty="0"/>
              <a:t>IBM watsonx.ai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/>
              <a:t>AI deployment platform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/>
              <a:t>Model management and governance </a:t>
            </a:r>
            <a:endParaRPr lang="en-IN" sz="1800" dirty="0" smtClean="0"/>
          </a:p>
          <a:p>
            <a:pPr>
              <a:buFont typeface="Arial" panose="020B0604020202020204" pitchFamily="34" charset="0"/>
              <a:buChar char="•"/>
            </a:pPr>
            <a:endParaRPr lang="en-IN" sz="1800" dirty="0"/>
          </a:p>
          <a:p>
            <a:r>
              <a:rPr lang="en-IN" sz="1800" b="1" dirty="0"/>
              <a:t>RAG Pipeline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/>
              <a:t>Retrieves latest social media knowledge </a:t>
            </a:r>
          </a:p>
          <a:p>
            <a:r>
              <a:rPr lang="en-IN" sz="1800" b="1" dirty="0"/>
              <a:t>Vector Database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/>
              <a:t>Stores social media insights for semantic search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40"/>
          <p:cNvSpPr/>
          <p:nvPr/>
        </p:nvSpPr>
        <p:spPr>
          <a:xfrm>
            <a:off x="793192" y="3415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Token Usage </a:t>
            </a:r>
            <a:endParaRPr sz="2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40"/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40"/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40"/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3" name="Google Shape;153;p40" descr="A screenshot of a computer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7873" y="1572554"/>
            <a:ext cx="4579423" cy="28222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40" descr="A screenshot of a computer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21978" y="1562409"/>
            <a:ext cx="5074227" cy="2812844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40"/>
          <p:cNvSpPr txBox="1"/>
          <p:nvPr/>
        </p:nvSpPr>
        <p:spPr>
          <a:xfrm>
            <a:off x="897392" y="1042133"/>
            <a:ext cx="437117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11,761 token are used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1"/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Novelty and Uniqueness</a:t>
            </a:r>
            <a:endParaRPr sz="2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41"/>
          <p:cNvSpPr txBox="1"/>
          <p:nvPr/>
        </p:nvSpPr>
        <p:spPr>
          <a:xfrm>
            <a:off x="777240" y="1239091"/>
            <a:ext cx="7123176" cy="4801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IN" sz="1800" b="1" dirty="0"/>
              <a:t>Why This Solution is Different?</a:t>
            </a:r>
          </a:p>
          <a:p>
            <a:r>
              <a:rPr lang="en-IN" sz="1800" b="1" dirty="0"/>
              <a:t>Multi-Agent Intelligence</a:t>
            </a:r>
          </a:p>
          <a:p>
            <a:r>
              <a:rPr lang="en-IN" sz="1800" dirty="0"/>
              <a:t>Multiple AI agents collaborate for better decisions.</a:t>
            </a:r>
          </a:p>
          <a:p>
            <a:r>
              <a:rPr lang="en-IN" sz="1800" b="1" dirty="0"/>
              <a:t>Real-Time Social Media Intelligence</a:t>
            </a:r>
          </a:p>
          <a:p>
            <a:r>
              <a:rPr lang="en-IN" sz="1800" dirty="0"/>
              <a:t>Analyzes trends and audience behavior continuously.</a:t>
            </a:r>
          </a:p>
          <a:p>
            <a:r>
              <a:rPr lang="en-IN" sz="1800" b="1" dirty="0"/>
              <a:t>Predictive Analytics</a:t>
            </a:r>
          </a:p>
          <a:p>
            <a:r>
              <a:rPr lang="en-IN" sz="1800" dirty="0"/>
              <a:t>Forecasts: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/>
              <a:t>Trending hashtags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/>
              <a:t>Engagement patterns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/>
              <a:t>Content opportunities </a:t>
            </a:r>
          </a:p>
          <a:p>
            <a:r>
              <a:rPr lang="en-IN" sz="1800" b="1" dirty="0"/>
              <a:t>Multimodal Support</a:t>
            </a:r>
          </a:p>
          <a:p>
            <a:r>
              <a:rPr lang="en-IN" sz="1800" dirty="0"/>
              <a:t>Supports: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/>
              <a:t>Text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/>
              <a:t>Images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/>
              <a:t>Voice inputs </a:t>
            </a:r>
          </a:p>
          <a:p>
            <a:r>
              <a:rPr lang="en-IN" sz="1800" b="1" dirty="0"/>
              <a:t>Personalized Content Strategy</a:t>
            </a:r>
          </a:p>
          <a:p>
            <a:r>
              <a:rPr lang="en-IN" sz="1800" dirty="0"/>
              <a:t>Creates content based on brand goals and audience.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42"/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Git Hub Link</a:t>
            </a:r>
            <a:endParaRPr sz="2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42"/>
          <p:cNvSpPr/>
          <p:nvPr/>
        </p:nvSpPr>
        <p:spPr>
          <a:xfrm>
            <a:off x="1218724" y="1153712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850" b="0" i="0" u="none" strike="noStrike" cap="none" dirty="0" smtClean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 </a:t>
            </a: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URL </a:t>
            </a: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– </a:t>
            </a: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https://</a:t>
            </a:r>
            <a:r>
              <a:rPr lang="en-US" sz="1850" dirty="0" smtClean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github.com/DIPIKA1301/AI-Marketing-Assistant-Agent</a:t>
            </a:r>
            <a:r>
              <a:rPr lang="en-US" sz="1850" dirty="0" smtClean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dirty="0"/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8" name="Google Shape;168;p42"/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9" name="Google Shape;169;p42"/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0" name="Google Shape;170;p42"/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3"/>
          <p:cNvSpPr/>
          <p:nvPr/>
        </p:nvSpPr>
        <p:spPr>
          <a:xfrm>
            <a:off x="1218724" y="180494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Future Scope </a:t>
            </a:r>
            <a:endParaRPr sz="24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43"/>
          <p:cNvSpPr/>
          <p:nvPr/>
        </p:nvSpPr>
        <p:spPr>
          <a:xfrm>
            <a:off x="1218724" y="1153712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IN" sz="2000" b="1" dirty="0"/>
              <a:t>1. Advanced AI Content Creation</a:t>
            </a:r>
          </a:p>
          <a:p>
            <a:r>
              <a:rPr lang="en-IN" sz="2000" dirty="0"/>
              <a:t>Integration with: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AI image generation </a:t>
            </a:r>
          </a:p>
          <a:p>
            <a:r>
              <a:rPr lang="en-IN" sz="2000" b="1" dirty="0" smtClean="0"/>
              <a:t>2</a:t>
            </a:r>
            <a:r>
              <a:rPr lang="en-IN" sz="2000" b="1" dirty="0"/>
              <a:t>. Voice-Based Social Media Assistant</a:t>
            </a:r>
          </a:p>
          <a:p>
            <a:r>
              <a:rPr lang="en-IN" sz="2000" dirty="0"/>
              <a:t>Users can: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Give voice commands </a:t>
            </a:r>
          </a:p>
          <a:p>
            <a:r>
              <a:rPr lang="en-IN" sz="2000" b="1" dirty="0" smtClean="0"/>
              <a:t>3</a:t>
            </a:r>
            <a:r>
              <a:rPr lang="en-IN" sz="2000" b="1" dirty="0"/>
              <a:t>. Real-Time Platform Integration</a:t>
            </a:r>
          </a:p>
          <a:p>
            <a:r>
              <a:rPr lang="en-IN" sz="2000" dirty="0"/>
              <a:t>Future integration with: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Social media APIs </a:t>
            </a:r>
          </a:p>
          <a:p>
            <a:r>
              <a:rPr lang="en-IN" sz="2000" b="1" dirty="0" smtClean="0"/>
              <a:t>4</a:t>
            </a:r>
            <a:r>
              <a:rPr lang="en-IN" sz="2000" b="1" dirty="0"/>
              <a:t>. Advanced Predictive Marketing</a:t>
            </a:r>
          </a:p>
          <a:p>
            <a:r>
              <a:rPr lang="en-IN" sz="2000" dirty="0"/>
              <a:t>AI can predict: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Viral content opportunities </a:t>
            </a:r>
          </a:p>
        </p:txBody>
      </p:sp>
      <p:sp>
        <p:nvSpPr>
          <p:cNvPr id="177" name="Google Shape;177;p43"/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8" name="Google Shape;178;p43"/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9" name="Google Shape;179;p43"/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20"/>
          <p:cNvPicPr preferRelativeResize="0"/>
          <p:nvPr/>
        </p:nvPicPr>
        <p:blipFill rotWithShape="1">
          <a:blip r:embed="rId3">
            <a:alphaModFix/>
          </a:blip>
          <a:srcRect b="21347"/>
          <a:stretch/>
        </p:blipFill>
        <p:spPr>
          <a:xfrm>
            <a:off x="0" y="2190302"/>
            <a:ext cx="12192000" cy="19485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599</Words>
  <Application>Microsoft Office PowerPoint</Application>
  <PresentationFormat>Widescreen</PresentationFormat>
  <Paragraphs>176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Times New Roman</vt:lpstr>
      <vt:lpstr>Office Theme</vt:lpstr>
      <vt:lpstr>IBM University Engagement Project Submission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IBM University Engagement Project Submission</dc:title>
  <dc:creator>Manda Anirudh</dc:creator>
  <cp:lastModifiedBy>Dipika</cp:lastModifiedBy>
  <cp:revision>2</cp:revision>
  <dcterms:created xsi:type="dcterms:W3CDTF">2025-07-08T05:06:56Z</dcterms:created>
  <dcterms:modified xsi:type="dcterms:W3CDTF">2026-06-11T11:14:03Z</dcterms:modified>
</cp:coreProperties>
</file>